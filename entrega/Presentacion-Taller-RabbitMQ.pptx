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607a8055-2b9e-54e4-4205-afe9a0b22021}">
          <p14:sldIdLst>
            <p14:sldId id="256"/>
            <p14:sldId id="257"/>
          </p14:sldIdLst>
        </p14:section>
        <p14:section name="Arquitectura" id="{02164a5b-cf9e-3328-8e67-61d184524ef2}">
          <p14:sldIdLst>
            <p14:sldId id="258"/>
            <p14:sldId id="259"/>
            <p14:sldId id="260"/>
          </p14:sldIdLst>
        </p14:section>
        <p14:section name="Conexiones" id="{d10f47dc-94e3-c52c-9ec2-8ed65cc72c3d}">
          <p14:sldIdLst>
            <p14:sldId id="261"/>
            <p14:sldId id="262"/>
            <p14:sldId id="263"/>
          </p14:sldIdLst>
        </p14:section>
        <p14:section name="Docker Compose" id="{95033976-c097-cfa2-9e3f-605f10a1d561}">
          <p14:sldIdLst>
            <p14:sldId id="264"/>
            <p14:sldId id="265"/>
            <p14:sldId id="266"/>
            <p14:sldId id="267"/>
          </p14:sldIdLst>
        </p14:section>
        <p14:section name="El código" id="{4e07f638-3abe-8d69-f89e-83e3264235fc}">
          <p14:sldIdLst>
            <p14:sldId id="268"/>
            <p14:sldId id="269"/>
            <p14:sldId id="270"/>
          </p14:sldIdLst>
        </p14:section>
        <p14:section name="Roles por escenario" id="{57d49552-ec62-3c74-a59b-a9b01cab4542}">
          <p14:sldIdLst>
            <p14:sldId id="271"/>
            <p14:sldId id="272"/>
            <p14:sldId id="273"/>
            <p14:sldId id="274"/>
            <p14:sldId id="275"/>
          </p14:sldIdLst>
        </p14:section>
        <p14:section name="Funcionamiento" id="{8e0a9798-91a6-580c-a2aa-80a25bd39fd5}">
          <p14:sldIdLst>
            <p14:sldId id="276"/>
            <p14:sldId id="277"/>
            <p14:sldId id="278"/>
            <p14:sldId id="279"/>
            <p14:sldId id="280"/>
          </p14:sldIdLst>
        </p14:section>
        <p14:section name="Cierre" id="{a8001ff1-7699-1fa2-0b90-d7bd200614fc}">
          <p14:sldIdLst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taller: un sistema de eventos de una tienda en línea con 4 productores y 4 consumidores en Python, Java, Node.js y Go, comunicados únicamente a través de RabbitMQ y desplegados con Docker en tres escenarios.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central: nadie llama a nadie directamente. Cada productor publica un evento en RabbitMQ y cada consumidor recibe solo los eventos que le interesan. Eso nos permite tener 4 lenguajes distintos y mover servicios de máquina sin cambiar 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Tenemos 8 servicios, cada uno en su propio contenedor. Arriba los 4 productores, abajo los 4 consumidores. Cada color es un lenguaje distinto.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servicio abre una conexión TCP al puerto 5672. El productor publica en el exchange tienda.eventos usando como routing key el tipo de evento. El exchange es de tipo topic: compara la routing key con los patrones de cada cola. Por ejemplo orden.creada llega a notificaciones, auditoría y analítica al mismo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productores siguen el mismo patrón: conectarse con reintento, declarar el exchange topic y publicar periódicamente un evento JSON con la routing key igual a su tipo. Java, Node y Go hacen exactamente lo mismo con su librería AMQP.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consumidor declara su propia cola, la enlaza al exchange con sus bindings y consume con ack manual. Si el consumidor se cae antes del ack, el mensaje vuelve a la cola. El de auditoría además reenvía cada evento a una página web por Server-Sent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en una sola máquina y un solo docker-compose. Es el caso base: la comunicación pasa por la red virtual de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broker queda aislado en otra máquina. Los servicios se conectan por la LAN usando la IP del broker en el .env. Un evento sale del PC B, va al PC A y vuelve al PC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servicios se reparten en dos nodos y el broker en un tercero. Los nodos 1 y 2 nunca hablan directamente: todo pasa por el nodo 3. Por disponibilidad de equipos el Nodo 1 y el broker compartieron PC, pero como proyectos compose separados conectados por la IP de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hacemos la demo en vivo: levantar el escenario, mostrar el panel de RabbitMQ (conexiones, exchange con bindings y colas), los logs de los consumidores y la UI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F7B38A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Arquitectura Event-Driven multilenguaje con RabbitMQ y Docker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7B38A"/>
                </a:solidFill>
              </a:rPr>
              <a:t>4 productores · 4 consumidores · 4 lenguajes · 3 escenarios de despliegue</a:t>
            </a:r>
            <a:endParaRPr lang="en-US" sz="1600" dirty="0"/>
          </a:p>
        </p:txBody>
      </p:sp>
      <p:sp>
        <p:nvSpPr>
          <p:cNvPr id="4" name="chip-lenguaje"/>
          <p:cNvSpPr/>
          <p:nvPr/>
        </p:nvSpPr>
        <p:spPr>
          <a:xfrm>
            <a:off x="548640" y="40690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77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069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Python</a:t>
            </a:r>
            <a:endParaRPr lang="en-US" sz="1200" dirty="0"/>
          </a:p>
        </p:txBody>
      </p:sp>
      <p:sp>
        <p:nvSpPr>
          <p:cNvPr id="6" name="chip-lenguaje"/>
          <p:cNvSpPr/>
          <p:nvPr/>
        </p:nvSpPr>
        <p:spPr>
          <a:xfrm>
            <a:off x="1691640" y="40690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B0721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91640" y="4069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Java</a:t>
            </a:r>
            <a:endParaRPr lang="en-US" sz="1200" dirty="0"/>
          </a:p>
        </p:txBody>
      </p:sp>
      <p:sp>
        <p:nvSpPr>
          <p:cNvPr id="8" name="chip-lenguaje"/>
          <p:cNvSpPr/>
          <p:nvPr/>
        </p:nvSpPr>
        <p:spPr>
          <a:xfrm>
            <a:off x="2834640" y="40690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C87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4069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Node.js</a:t>
            </a:r>
            <a:endParaRPr lang="en-US" sz="1200" dirty="0"/>
          </a:p>
        </p:txBody>
      </p:sp>
      <p:sp>
        <p:nvSpPr>
          <p:cNvPr id="10" name="chip-lenguaje"/>
          <p:cNvSpPr/>
          <p:nvPr/>
        </p:nvSpPr>
        <p:spPr>
          <a:xfrm>
            <a:off x="3977640" y="40690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00AD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77640" y="4069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4C3"/>
                </a:solidFill>
              </a:rPr>
              <a:t>Principios de Arquitectura de Software · Taller en grupo</a:t>
            </a:r>
            <a:endParaRPr lang="en-US" sz="1300" dirty="0"/>
          </a:p>
        </p:txBody>
      </p:sp>
      <p:sp>
        <p:nvSpPr>
          <p:cNvPr id="13" name="integrantes"/>
          <p:cNvSpPr txBox="1"/>
          <p:nvPr/>
        </p:nvSpPr>
        <p:spPr>
          <a:xfrm>
            <a:off x="512064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D5DAE1"/>
                </a:solidFill>
              </a:rPr>
              <a:t>David Esteban Suarez Lozano · 2221909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D5DAE1"/>
                </a:solidFill>
              </a:rPr>
              <a:t>Thomas Alejandro Perez Rojas · 2221906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D5DAE1"/>
                </a:solidFill>
              </a:rPr>
              <a:t>Jesus David Santodomingo Carrascal · 2221922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ero"/>
          <p:cNvSpPr/>
          <p:nvPr/>
        </p:nvSpPr>
        <p:spPr>
          <a:xfrm>
            <a:off x="640080" y="1435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Arquitectura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Estilo event-driven y componentes</a:t>
            </a:r>
            <a:endParaRPr lang="en-US" sz="1300" dirty="0"/>
          </a:p>
        </p:txBody>
      </p:sp>
      <p:sp>
        <p:nvSpPr>
          <p:cNvPr id="8" name="tarjeta"/>
          <p:cNvSpPr/>
          <p:nvPr/>
        </p:nvSpPr>
        <p:spPr>
          <a:xfrm>
            <a:off x="324612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ero"/>
          <p:cNvSpPr/>
          <p:nvPr/>
        </p:nvSpPr>
        <p:spPr>
          <a:xfrm>
            <a:off x="3429000" y="1435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Conexiones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AMQP: exchange, bindings y colas</a:t>
            </a:r>
            <a:endParaRPr lang="en-US" sz="1300" dirty="0"/>
          </a:p>
        </p:txBody>
      </p:sp>
      <p:sp>
        <p:nvSpPr>
          <p:cNvPr id="13" name="tarjeta"/>
          <p:cNvSpPr/>
          <p:nvPr/>
        </p:nvSpPr>
        <p:spPr>
          <a:xfrm>
            <a:off x="603504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ero"/>
          <p:cNvSpPr/>
          <p:nvPr/>
        </p:nvSpPr>
        <p:spPr>
          <a:xfrm>
            <a:off x="6217920" y="1435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Docker Compose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Dockerfiles y un compose por nodo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457200" y="2926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ero"/>
          <p:cNvSpPr/>
          <p:nvPr/>
        </p:nvSpPr>
        <p:spPr>
          <a:xfrm>
            <a:off x="640080" y="3127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 código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Productores y consumidores</a:t>
            </a:r>
            <a:endParaRPr lang="en-US" sz="1300" dirty="0"/>
          </a:p>
        </p:txBody>
      </p:sp>
      <p:sp>
        <p:nvSpPr>
          <p:cNvPr id="23" name="tarjeta"/>
          <p:cNvSpPr/>
          <p:nvPr/>
        </p:nvSpPr>
        <p:spPr>
          <a:xfrm>
            <a:off x="3246120" y="2926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ero"/>
          <p:cNvSpPr/>
          <p:nvPr/>
        </p:nvSpPr>
        <p:spPr>
          <a:xfrm>
            <a:off x="3429000" y="3127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Roles por escenario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Qué corre en cada nodo</a:t>
            </a:r>
            <a:endParaRPr lang="en-US" sz="1300" dirty="0"/>
          </a:p>
        </p:txBody>
      </p:sp>
      <p:sp>
        <p:nvSpPr>
          <p:cNvPr id="28" name="tarjeta"/>
          <p:cNvSpPr/>
          <p:nvPr/>
        </p:nvSpPr>
        <p:spPr>
          <a:xfrm>
            <a:off x="6035040" y="2926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numero"/>
          <p:cNvSpPr/>
          <p:nvPr/>
        </p:nvSpPr>
        <p:spPr>
          <a:xfrm>
            <a:off x="6217920" y="3127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Funcionamiento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Demo y evidencias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 · Arquitectura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Event-driven con un broker de mensajes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Arquitectura event-driven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Productores publican eventos de dominio sin saber quién los consume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RabbitMQ es el único punto de contacto (bus de eventos)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Consumidores reaccionan a los eventos que les interesan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Comunicación asíncrona y desacoplada: se agregan o mueven servicios sin tocar los demás</a:t>
            </a:r>
            <a:endParaRPr lang="en-US" sz="1500" dirty="0"/>
          </a:p>
        </p:txBody>
      </p:sp>
      <p:pic>
        <p:nvPicPr>
          <p:cNvPr id="4" name="Image 0" descr="Topología: productores publican en el exchange topic tienda.eventos, que enruta a 4 co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609655"/>
            <a:ext cx="4846320" cy="19927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93192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Caso de uso: eventos de una tienda en línea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Componentes del sistema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75"/>
                </a:solidFill>
              </a:rPr>
              <a:t>PRODUCTORES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75"/>
                </a:solidFill>
              </a:rPr>
              <a:t>CONSUMIDORES</a:t>
            </a:r>
            <a:endParaRPr lang="en-US" sz="1100" dirty="0"/>
          </a:p>
        </p:txBody>
      </p:sp>
      <p:sp>
        <p:nvSpPr>
          <p:cNvPr id="5" name="tarjeta"/>
          <p:cNvSpPr/>
          <p:nvPr/>
        </p:nvSpPr>
        <p:spPr>
          <a:xfrm>
            <a:off x="457200" y="12801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377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Órdenes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Python · pika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orden.creada</a:t>
            </a:r>
            <a:endParaRPr lang="en-US" sz="1100" dirty="0"/>
          </a:p>
        </p:txBody>
      </p:sp>
      <p:sp>
        <p:nvSpPr>
          <p:cNvPr id="9" name="tarjeta"/>
          <p:cNvSpPr/>
          <p:nvPr/>
        </p:nvSpPr>
        <p:spPr>
          <a:xfrm>
            <a:off x="2560320" y="12801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B0721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Pagos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Java · amqp-client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pago.aprobado / rechazado</a:t>
            </a:r>
            <a:endParaRPr lang="en-US" sz="1100" dirty="0"/>
          </a:p>
        </p:txBody>
      </p:sp>
      <p:sp>
        <p:nvSpPr>
          <p:cNvPr id="13" name="tarjeta"/>
          <p:cNvSpPr/>
          <p:nvPr/>
        </p:nvSpPr>
        <p:spPr>
          <a:xfrm>
            <a:off x="4663440" y="12801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3C87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Inventario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Node.js · amqplib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inventario.actualizado / agotado</a:t>
            </a:r>
            <a:endParaRPr lang="en-US" sz="1100" dirty="0"/>
          </a:p>
        </p:txBody>
      </p:sp>
      <p:sp>
        <p:nvSpPr>
          <p:cNvPr id="17" name="tarjeta"/>
          <p:cNvSpPr/>
          <p:nvPr/>
        </p:nvSpPr>
        <p:spPr>
          <a:xfrm>
            <a:off x="6766560" y="12801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0AD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Envíos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Go · amqp091-go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envio.despachado / entregado</a:t>
            </a:r>
            <a:endParaRPr lang="en-US" sz="1100" dirty="0"/>
          </a:p>
        </p:txBody>
      </p:sp>
      <p:sp>
        <p:nvSpPr>
          <p:cNvPr id="21" name="tarjeta"/>
          <p:cNvSpPr/>
          <p:nvPr/>
        </p:nvSpPr>
        <p:spPr>
          <a:xfrm>
            <a:off x="457200" y="31089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377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218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Notificaciones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Python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Correos y SMS al cliente</a:t>
            </a:r>
            <a:endParaRPr lang="en-US" sz="1100" dirty="0"/>
          </a:p>
        </p:txBody>
      </p:sp>
      <p:sp>
        <p:nvSpPr>
          <p:cNvPr id="25" name="tarjeta"/>
          <p:cNvSpPr/>
          <p:nvPr/>
        </p:nvSpPr>
        <p:spPr>
          <a:xfrm>
            <a:off x="2560320" y="31089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B0721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697480" y="3218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Facturación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Java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9748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Emite facturas o anula órdenes</a:t>
            </a:r>
            <a:endParaRPr lang="en-US" sz="1100" dirty="0"/>
          </a:p>
        </p:txBody>
      </p:sp>
      <p:sp>
        <p:nvSpPr>
          <p:cNvPr id="29" name="tarjeta"/>
          <p:cNvSpPr/>
          <p:nvPr/>
        </p:nvSpPr>
        <p:spPr>
          <a:xfrm>
            <a:off x="4663440" y="31089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3C87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3218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Auditoría + UI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Node.js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Registra todo y lo muestra en web :8080</a:t>
            </a:r>
            <a:endParaRPr lang="en-US" sz="1100" dirty="0"/>
          </a:p>
        </p:txBody>
      </p:sp>
      <p:sp>
        <p:nvSpPr>
          <p:cNvPr id="33" name="tarjeta"/>
          <p:cNvSpPr/>
          <p:nvPr/>
        </p:nvSpPr>
        <p:spPr>
          <a:xfrm>
            <a:off x="6766560" y="31089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0ADD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03720" y="3218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Analítica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Métricas: ventas, pagos, stock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 · Conexiones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AMQP 0-9-1 sobre TCP :5672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Cómo viaja un evento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1517904" cy="1828800"/>
          </a:xfrm>
          <a:prstGeom prst="roundRect">
            <a:avLst>
              <a:gd name="adj" fmla="val 602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ero"/>
          <p:cNvSpPr/>
          <p:nvPr/>
        </p:nvSpPr>
        <p:spPr>
          <a:xfrm>
            <a:off x="1024128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412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Conexión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202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TCP al broker :5672, usuario admin, nombre servicio@nodo</a:t>
            </a:r>
            <a:endParaRPr lang="en-US" sz="1100" dirty="0"/>
          </a:p>
        </p:txBody>
      </p:sp>
      <p:sp>
        <p:nvSpPr>
          <p:cNvPr id="8" name="tarjeta"/>
          <p:cNvSpPr/>
          <p:nvPr/>
        </p:nvSpPr>
        <p:spPr>
          <a:xfrm>
            <a:off x="2139696" y="1188720"/>
            <a:ext cx="1517904" cy="1828800"/>
          </a:xfrm>
          <a:prstGeom prst="roundRect">
            <a:avLst>
              <a:gd name="adj" fmla="val 602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ero"/>
          <p:cNvSpPr/>
          <p:nvPr/>
        </p:nvSpPr>
        <p:spPr>
          <a:xfrm>
            <a:off x="2706624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06624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15087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Publish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19202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Al exchange tienda.eventos con routing key = tipo de evento</a:t>
            </a:r>
            <a:endParaRPr lang="en-US" sz="1100" dirty="0"/>
          </a:p>
        </p:txBody>
      </p:sp>
      <p:sp>
        <p:nvSpPr>
          <p:cNvPr id="13" name="tarjeta"/>
          <p:cNvSpPr/>
          <p:nvPr/>
        </p:nvSpPr>
        <p:spPr>
          <a:xfrm>
            <a:off x="3822192" y="1188720"/>
            <a:ext cx="1517904" cy="1828800"/>
          </a:xfrm>
          <a:prstGeom prst="roundRect">
            <a:avLst>
              <a:gd name="adj" fmla="val 602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ero"/>
          <p:cNvSpPr/>
          <p:nvPr/>
        </p:nvSpPr>
        <p:spPr>
          <a:xfrm>
            <a:off x="4389120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15087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Exchange topic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19202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Compara la routing key con los bindings de cada cola</a:t>
            </a:r>
            <a:endParaRPr lang="en-US" sz="1100" dirty="0"/>
          </a:p>
        </p:txBody>
      </p:sp>
      <p:sp>
        <p:nvSpPr>
          <p:cNvPr id="18" name="tarjeta"/>
          <p:cNvSpPr/>
          <p:nvPr/>
        </p:nvSpPr>
        <p:spPr>
          <a:xfrm>
            <a:off x="5504688" y="1188720"/>
            <a:ext cx="1517904" cy="1828800"/>
          </a:xfrm>
          <a:prstGeom prst="roundRect">
            <a:avLst>
              <a:gd name="adj" fmla="val 602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ero"/>
          <p:cNvSpPr/>
          <p:nvPr/>
        </p:nvSpPr>
        <p:spPr>
          <a:xfrm>
            <a:off x="6071616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7161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15087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Cola durable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14416" y="19202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Guarda el mensaje persistente hasta que se consuma</a:t>
            </a:r>
            <a:endParaRPr lang="en-US" sz="1100" dirty="0"/>
          </a:p>
        </p:txBody>
      </p:sp>
      <p:sp>
        <p:nvSpPr>
          <p:cNvPr id="23" name="tarjeta"/>
          <p:cNvSpPr/>
          <p:nvPr/>
        </p:nvSpPr>
        <p:spPr>
          <a:xfrm>
            <a:off x="7187184" y="1188720"/>
            <a:ext cx="1517904" cy="1828800"/>
          </a:xfrm>
          <a:prstGeom prst="roundRect">
            <a:avLst>
              <a:gd name="adj" fmla="val 602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ero"/>
          <p:cNvSpPr/>
          <p:nvPr/>
        </p:nvSpPr>
        <p:spPr>
          <a:xfrm>
            <a:off x="7754112" y="1024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54112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78624" y="15087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Consume + ack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192024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El consumidor procesa (prefetch) y confirma con ack manual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Bindings (routing keys)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q.notificaciones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orden.creada · envio.*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q.facturacion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pago.aprobado · pago.rechazado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q.auditoria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 (todos los eventos)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q.analitica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orden.* · inventario.* · pago.*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arjeta"/>
          <p:cNvSpPr/>
          <p:nvPr/>
        </p:nvSpPr>
        <p:spPr>
          <a:xfrm>
            <a:off x="6217920" y="32461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FFE9D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5508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= exactamente una palabra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</a:rPr>
              <a:t>#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= cero o más palabras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Un evento puede llegar a varias colas a la vez (pub/sub)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 evento: un contrato JSON común</a:t>
            </a:r>
            <a:endParaRPr lang="en-US" sz="2800" dirty="0"/>
          </a:p>
        </p:txBody>
      </p:sp>
      <p:sp>
        <p:nvSpPr>
          <p:cNvPr id="3" name="fondo-codigo"/>
          <p:cNvSpPr/>
          <p:nvPr/>
        </p:nvSpPr>
        <p:spPr>
          <a:xfrm>
            <a:off x="457200" y="109728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172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7B38A"/>
                </a:solidFill>
              </a:rPr>
              <a:t>Mensaje (application/json, delivery_mode=2)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594360" y="1417320"/>
            <a:ext cx="4206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"6f1c…-uuid",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"tipo": "pago.aprobado",   ← routing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"origen": "productor-java",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"lenguaje": "Java",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"nodo": "esc3-nodo1",      ← nodo origen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"2026-10-28T14:31:56Z",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"datos": { "orden_id": 4576,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"monto": 1498.11,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"metodo": "pse"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18872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JSON es el idioma común: Python, Java, Node.js y Go lo leen sin acoplarse entre sí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Mensajes persistentes en colas durables: sobreviven a un reinicio del broker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campo nodo y el nombre de la conexión (servicio@nodo) permiten rastrear de qué máquina viene cada evento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 · Docker Compose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 contenedor por servicio · un compose por nodo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Dockerfiles multi-stage</a:t>
            </a:r>
            <a:endParaRPr lang="en-US" sz="2800" dirty="0"/>
          </a:p>
        </p:txBody>
      </p:sp>
      <p:sp>
        <p:nvSpPr>
          <p:cNvPr id="3" name="fondo-codigo"/>
          <p:cNvSpPr/>
          <p:nvPr/>
        </p:nvSpPr>
        <p:spPr>
          <a:xfrm>
            <a:off x="457200" y="109728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172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7B38A"/>
                </a:solidFill>
              </a:rPr>
              <a:t>productores/go-envios/Dockerfile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594360" y="1417320"/>
            <a:ext cx="4480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Etapa 1: compilar el binario de 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golang:1.23-alpine AS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/src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go.mod ./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*.go ./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go mod tidy &amp;&amp; CGO_ENABLED=0 go build -o /app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Etapa 2: imagen mínima con solo el binario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alpine:3.20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 /app /app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["/app"]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18872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servicio se compila dentro de Docker: en los PCs solo hace falta Docker Desktop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 (Maven → JRE) y Go (golang → alpine) usan multi-stage: imágenes livianas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y Node.js: imagen slim + dependencias (pika, amqplib)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Escenario 1: un solo docker-compose.yml</a:t>
            </a:r>
            <a:endParaRPr lang="en-US" sz="2800" dirty="0"/>
          </a:p>
        </p:txBody>
      </p:sp>
      <p:sp>
        <p:nvSpPr>
          <p:cNvPr id="3" name="fondo-codigo"/>
          <p:cNvSpPr/>
          <p:nvPr/>
        </p:nvSpPr>
        <p:spPr>
          <a:xfrm>
            <a:off x="457200" y="109728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72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7B38A"/>
                </a:solidFill>
              </a:rPr>
              <a:t>escenario1-centralizado/docker-compose.yml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594360" y="14173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rabbitmq: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rabbitmq:3-management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RABBITMQ_DEFAULT_USER: admin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RABBITMQ_DEFAULT_PASS: admin123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["5672:5672", "15672:15672"]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["CMD","rabbitmq-diagnostics","-q",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"check_port_connectivity"]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productor-python: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../productores/python-ordenes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 *rabbit-env   # RABBITMQ_HOST: rabbitmq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rabbitmq: { condition: service_healthy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… 3 productores y 4 consumidores más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18872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9 contenedores en la misma red Docker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 servicios encuentran al broker por nombre: rabbitmq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healthcheck + depends_on: los servicios esperan a que el broker esté listo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Anclas YAML (x-rabbit-env) para no repetir la configuración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Escenarios 2 y 3: un compose por nodo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1874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nodo1-servicios/docker-compose.yml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productores + 4 consumidores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nodo2-broker/docker-compose.yml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nodo1/docker-compose.yml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Java (prod. y cons.)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nodo2/docker-compose.yml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Go (prod. y cons.)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nodo3-broker/docker-compose.yml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ndo-codigo"/>
          <p:cNvSpPr/>
          <p:nvPr/>
        </p:nvSpPr>
        <p:spPr>
          <a:xfrm>
            <a:off x="5852160" y="1097280"/>
            <a:ext cx="2834640" cy="2560320"/>
          </a:xfrm>
          <a:prstGeom prst="roundRect">
            <a:avLst>
              <a:gd name="adj" fmla="val 2857"/>
            </a:avLst>
          </a:prstGeom>
          <a:solidFill>
            <a:srgbClr val="17202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89320" y="1170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7B38A"/>
                </a:solidFill>
              </a:rPr>
              <a:t>.env → variables</a:t>
            </a:r>
            <a:endParaRPr lang="en-US" sz="1000" dirty="0"/>
          </a:p>
        </p:txBody>
      </p:sp>
      <p:sp>
        <p:nvSpPr>
          <p:cNvPr id="6" name="codigo"/>
          <p:cNvSpPr txBox="1"/>
          <p:nvPr/>
        </p:nvSpPr>
        <p:spPr>
          <a:xfrm>
            <a:off x="5989320" y="1417320"/>
            <a:ext cx="2560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del nodo de servicios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BROKER_IP=10.6.62.18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BROKER_PORT=5672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RABBITMQ_USER=admin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RABBITMQ_PASS=admin123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docker-compose.yml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RABBITMQ_HOST: ${BROKER_IP}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NODO: esc3-nodo1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94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6B1D"/>
                </a:solidFill>
              </a:rPr>
              <a:t>Mismas imágenes y mismo código en los 3 escenarios: solo cambia dónde corre cada contenedor y la IP del broker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El broker expone 5672 (AMQP) y 15672 (panel) a la LAN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· El código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El mismo patrón en 4 lenguajes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Productor (Python + pika)</a:t>
            </a:r>
            <a:endParaRPr lang="en-US" sz="2800" dirty="0"/>
          </a:p>
        </p:txBody>
      </p:sp>
      <p:sp>
        <p:nvSpPr>
          <p:cNvPr id="3" name="fondo-codigo"/>
          <p:cNvSpPr/>
          <p:nvPr/>
        </p:nvSpPr>
        <p:spPr>
          <a:xfrm>
            <a:off x="457200" y="109728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72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7B38A"/>
                </a:solidFill>
              </a:rPr>
              <a:t>productores/python-ordenes/producer.py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594360" y="14173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canal.exchange_declare(exchange="tienda.eventos",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exchange_type="topic", durable=True)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evento = {"id": str(uuid.uuid4()),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"tipo": "orden.creada",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"origen": "productor-python",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"nodo": NODO,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"datos": {...}}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canal.basic_publish(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exchange="tienda.eventos",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routing_key=evento["tipo"],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body=json.dumps(evento),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properties=pika.BasicProperties(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content_type="application/json",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delivery_mode=2))          # persistente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conexion.sleep(INTERVALO)</a:t>
            </a:r>
            <a:endParaRPr lang="en-US" sz="1100" dirty="0"/>
          </a:p>
        </p:txBody>
      </p:sp>
      <p:sp>
        <p:nvSpPr>
          <p:cNvPr id="6" name="numero"/>
          <p:cNvSpPr/>
          <p:nvPr/>
        </p:nvSpPr>
        <p:spPr>
          <a:xfrm>
            <a:off x="5852160" y="1188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Conecta con reintento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490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Si el broker no está listo, reintenta cada 3 s</a:t>
            </a:r>
            <a:endParaRPr lang="en-US" sz="1200" dirty="0"/>
          </a:p>
        </p:txBody>
      </p:sp>
      <p:sp>
        <p:nvSpPr>
          <p:cNvPr id="10" name="numero"/>
          <p:cNvSpPr/>
          <p:nvPr/>
        </p:nvSpPr>
        <p:spPr>
          <a:xfrm>
            <a:off x="585216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Declara el exchange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587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Idempotente: todos lo declaran igual</a:t>
            </a:r>
            <a:endParaRPr lang="en-US" sz="1200" dirty="0"/>
          </a:p>
        </p:txBody>
      </p:sp>
      <p:sp>
        <p:nvSpPr>
          <p:cNvPr id="14" name="numero"/>
          <p:cNvSpPr/>
          <p:nvPr/>
        </p:nvSpPr>
        <p:spPr>
          <a:xfrm>
            <a:off x="5852160" y="3383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521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364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Publica cada 3 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6850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routing key = tipo del evento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Consumidor (Node.js + amqplib)</a:t>
            </a:r>
            <a:endParaRPr lang="en-US" sz="2800" dirty="0"/>
          </a:p>
        </p:txBody>
      </p:sp>
      <p:sp>
        <p:nvSpPr>
          <p:cNvPr id="3" name="fondo-codigo"/>
          <p:cNvSpPr/>
          <p:nvPr/>
        </p:nvSpPr>
        <p:spPr>
          <a:xfrm>
            <a:off x="457200" y="109728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72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7B38A"/>
                </a:solidFill>
              </a:rPr>
              <a:t>consumidores/node-auditoria/consumer.js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594360" y="14173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BINDINGS = ['#'];          // auditoría: todo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canal.assertExchange(EXCHANGE, 'topic', { durable: true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canal.assertQueue(COLA, { durable: true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clave of BINDINGS)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canal.bindQueue(COLA, EXCHANGE, clave);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canal.prefetch(20);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canal.consume(COLA, (msg)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evento = JSON.parse(msg.content.toString());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console.log(`&lt;- ${evento.tipo} de ${evento.origen}`);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emitir(evento);                 // UI web :8080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canal.ack(msg);                 // ack manual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6" name="numero"/>
          <p:cNvSpPr/>
          <p:nvPr/>
        </p:nvSpPr>
        <p:spPr>
          <a:xfrm>
            <a:off x="5852160" y="11887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Cola propia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490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Cada consumidor declara su cola durable</a:t>
            </a:r>
            <a:endParaRPr lang="en-US" sz="1200" dirty="0"/>
          </a:p>
        </p:txBody>
      </p:sp>
      <p:sp>
        <p:nvSpPr>
          <p:cNvPr id="10" name="numero"/>
          <p:cNvSpPr/>
          <p:nvPr/>
        </p:nvSpPr>
        <p:spPr>
          <a:xfrm>
            <a:off x="585216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Bindings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587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Define qué eventos le interesan</a:t>
            </a:r>
            <a:endParaRPr lang="en-US" sz="1200" dirty="0"/>
          </a:p>
        </p:txBody>
      </p:sp>
      <p:sp>
        <p:nvSpPr>
          <p:cNvPr id="14" name="numero"/>
          <p:cNvSpPr/>
          <p:nvPr/>
        </p:nvSpPr>
        <p:spPr>
          <a:xfrm>
            <a:off x="5852160" y="33832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521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364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prefetch + ack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6850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No se satura y no pierde mensajes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 · Roles por escenario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Qué corre en cada nodo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Escenario 1 · Centralizado</a:t>
            </a:r>
            <a:endParaRPr lang="en-US" sz="2800" dirty="0"/>
          </a:p>
        </p:txBody>
      </p:sp>
      <p:pic>
        <p:nvPicPr>
          <p:cNvPr id="3" name="Image 0" descr="Escenario 1 · Centraliz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924" y="960120"/>
            <a:ext cx="6674152" cy="2834640"/>
          </a:xfrm>
          <a:prstGeom prst="rect">
            <a:avLst/>
          </a:prstGeom>
        </p:spPr>
      </p:pic>
      <p:sp>
        <p:nvSpPr>
          <p:cNvPr id="4" name="tarjeta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93192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</a:rPr>
              <a:t>Nodo único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062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Broker + 4 productores + 4 consumidores (9 contenedores). Red interna de Docker, broker por nombre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Escenario 2 · Distribuido en 2 nodos</a:t>
            </a:r>
            <a:endParaRPr lang="en-US" sz="2800" dirty="0"/>
          </a:p>
        </p:txBody>
      </p:sp>
      <p:pic>
        <p:nvPicPr>
          <p:cNvPr id="3" name="Image 0" descr="Escenario 2 · Distribuido en 2 no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2021" y="960120"/>
            <a:ext cx="6379959" cy="2834640"/>
          </a:xfrm>
          <a:prstGeom prst="rect">
            <a:avLst/>
          </a:prstGeom>
        </p:spPr>
      </p:pic>
      <p:sp>
        <p:nvSpPr>
          <p:cNvPr id="4" name="tarjeta"/>
          <p:cNvSpPr/>
          <p:nvPr/>
        </p:nvSpPr>
        <p:spPr>
          <a:xfrm>
            <a:off x="457200" y="38862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93192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</a:rPr>
              <a:t>Nodo 1 · PC B (10.6.62.137)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0624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Servicios: los 4 productores y los 4 consumidores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4663440" y="38862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73168" y="393192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</a:rPr>
              <a:t>Nodo 2 · PC A (10.6.62.18)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773168" y="420624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Broker RabbitMQ: exchange, colas y panel de administración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Escenario 3 · Distribuido en 3 nodos</a:t>
            </a:r>
            <a:endParaRPr lang="en-US" sz="2800" dirty="0"/>
          </a:p>
        </p:txBody>
      </p:sp>
      <p:pic>
        <p:nvPicPr>
          <p:cNvPr id="3" name="Image 0" descr="Escenario 3 · Distribuido en 3 no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303" y="960120"/>
            <a:ext cx="8295395" cy="2834640"/>
          </a:xfrm>
          <a:prstGeom prst="rect">
            <a:avLst/>
          </a:prstGeom>
        </p:spPr>
      </p:pic>
      <p:sp>
        <p:nvSpPr>
          <p:cNvPr id="4" name="tarjeta"/>
          <p:cNvSpPr/>
          <p:nvPr/>
        </p:nvSpPr>
        <p:spPr>
          <a:xfrm>
            <a:off x="457200" y="3886200"/>
            <a:ext cx="2621280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931920"/>
            <a:ext cx="2401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776AB"/>
                </a:solidFill>
              </a:rPr>
              <a:t>Nodo 1 · Python + Java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06240"/>
            <a:ext cx="240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Prod. órdenes y pagos · Cons. notificaciones y facturación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3261360" y="3886200"/>
            <a:ext cx="2621280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71088" y="3931920"/>
            <a:ext cx="2401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</a:rPr>
              <a:t>Nodo 3 · Broker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371088" y="4206240"/>
            <a:ext cx="240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RabbitMQ: enruta eventos entre los dos nodos de servicios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6065520" y="3886200"/>
            <a:ext cx="2621280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3C87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5248" y="3931920"/>
            <a:ext cx="2401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873A"/>
                </a:solidFill>
              </a:rPr>
              <a:t>Nodo 2 · Node.js + Go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75248" y="4206240"/>
            <a:ext cx="2401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Prod. inventario y envíos · Cons. auditoría (UI) y analítica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Resumen de roles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2103120"/>
                <a:gridCol w="21031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Consumidores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compose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único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único (4)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único (4)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2 (PC 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1 (4)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1 (4)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1: Python, 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2: Node.js, 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1: Python, 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2: Node.js, 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rjeta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E9D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En los tres escenarios el broker es el único servicio al que todos se conectan: los productores y consumidores nunca se conocen entre sí.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6 · Funcionamiento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Demo en vivo y evidencias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Demo: cómo se levanta</a:t>
            </a:r>
            <a:endParaRPr lang="en-US" sz="2800" dirty="0"/>
          </a:p>
        </p:txBody>
      </p:sp>
      <p:sp>
        <p:nvSpPr>
          <p:cNvPr id="3" name="fondo-codigo"/>
          <p:cNvSpPr/>
          <p:nvPr/>
        </p:nvSpPr>
        <p:spPr>
          <a:xfrm>
            <a:off x="457200" y="109728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172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7B38A"/>
                </a:solidFill>
              </a:rPr>
              <a:t>Terminal</a:t>
            </a:r>
            <a:endParaRPr lang="en-US" sz="1000" dirty="0"/>
          </a:p>
        </p:txBody>
      </p:sp>
      <p:sp>
        <p:nvSpPr>
          <p:cNvPr id="5" name="codigo"/>
          <p:cNvSpPr txBox="1"/>
          <p:nvPr/>
        </p:nvSpPr>
        <p:spPr>
          <a:xfrm>
            <a:off x="594360" y="141732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Escenario 1 (un PC)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escenario1-centralizado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Escenarios 2 y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PC broker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escenario3-tres-nodos/nodo3-broker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PCs de servicios: poner BROKER_IP en .env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escenario3-tres-nodos/nodo2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00" dirty="0"/>
          </a:p>
        </p:txBody>
      </p:sp>
      <p:sp>
        <p:nvSpPr>
          <p:cNvPr id="6" name="tarjeta"/>
          <p:cNvSpPr/>
          <p:nvPr/>
        </p:nvSpPr>
        <p:spPr>
          <a:xfrm>
            <a:off x="4937760" y="114300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12064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Panel RabbitMQ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581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http://&lt;broker&gt;:15672 → Connections, Exchanges, Queues</a:t>
            </a:r>
            <a:endParaRPr lang="en-US" sz="1200" dirty="0"/>
          </a:p>
        </p:txBody>
      </p:sp>
      <p:sp>
        <p:nvSpPr>
          <p:cNvPr id="9" name="tarjeta"/>
          <p:cNvSpPr/>
          <p:nvPr/>
        </p:nvSpPr>
        <p:spPr>
          <a:xfrm>
            <a:off x="4937760" y="228600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12064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UI de eventos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24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http://&lt;nodo&gt;:8080 → eventos en vivo</a:t>
            </a:r>
            <a:endParaRPr lang="en-US" sz="1200" dirty="0"/>
          </a:p>
        </p:txBody>
      </p:sp>
      <p:sp>
        <p:nvSpPr>
          <p:cNvPr id="12" name="tarjeta"/>
          <p:cNvSpPr/>
          <p:nvPr/>
        </p:nvSpPr>
        <p:spPr>
          <a:xfrm>
            <a:off x="4937760" y="342900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2064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Logs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</a:rPr>
              <a:t>docker compose logs -f consumidor-go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Evidencia: panel de RabbitMQ</a:t>
            </a:r>
            <a:endParaRPr lang="en-US" sz="2800" dirty="0"/>
          </a:p>
        </p:txBody>
      </p:sp>
      <p:pic>
        <p:nvPicPr>
          <p:cNvPr id="3" name="Image 0" descr="Exchange tienda.eventos con sus bind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165" y="1005840"/>
            <a:ext cx="2609830" cy="3108960"/>
          </a:xfrm>
          <a:prstGeom prst="rect">
            <a:avLst/>
          </a:prstGeom>
        </p:spPr>
      </p:pic>
      <p:pic>
        <p:nvPicPr>
          <p:cNvPr id="4" name="Image 1" descr="Conexiones desde esc3-nodo1 y esc3-nodo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11776"/>
            <a:ext cx="2651760" cy="2297087"/>
          </a:xfrm>
          <a:prstGeom prst="rect">
            <a:avLst/>
          </a:prstGeom>
        </p:spPr>
      </p:pic>
      <p:pic>
        <p:nvPicPr>
          <p:cNvPr id="5" name="Image 2" descr="4 colas con 1 consumi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13434"/>
            <a:ext cx="2651760" cy="229377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Exchange topic + 8 bindings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324612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Esc. 3: 4 conexiones @nodo1 y 4 @nodo2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603504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4 colas durables, 1 consumidor c/u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Evidencia: eventos cruzando nodos</a:t>
            </a:r>
            <a:endParaRPr lang="en-US" sz="2800" dirty="0"/>
          </a:p>
        </p:txBody>
      </p:sp>
      <p:pic>
        <p:nvPicPr>
          <p:cNvPr id="3" name="Image 0" descr="Logs de los 4 consumidores en el escenario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59" y="1005840"/>
            <a:ext cx="5130683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Escenario 2: los 4 consumidores del PC B procesan eventos vía el broker del PC A</a:t>
            </a:r>
            <a:endParaRPr lang="en-US" sz="1000" dirty="0"/>
          </a:p>
        </p:txBody>
      </p:sp>
      <p:sp>
        <p:nvSpPr>
          <p:cNvPr id="5" name="fondo-codigo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720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30906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7B38A"/>
                </a:solidFill>
              </a:rPr>
              <a:t>Escenario 3: tráfico cruzado Nodo 1 ↔ Nodo 2</a:t>
            </a:r>
            <a:endParaRPr lang="en-US" sz="1000" dirty="0"/>
          </a:p>
        </p:txBody>
      </p:sp>
      <p:sp>
        <p:nvSpPr>
          <p:cNvPr id="7" name="codigo"/>
          <p:cNvSpPr txBox="1"/>
          <p:nvPr/>
        </p:nvSpPr>
        <p:spPr>
          <a:xfrm>
            <a:off x="594360" y="33375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[consumidor-go@esc3-nodo2] &lt;- pago.aprobado de productor-java@esc3-nodo1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[consumidor-python@esc3-nodo1] &lt;- envio.entregado de productor-go@esc3-nodo2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6B1D"/>
                </a:solidFill>
              </a:rPr>
              <a:t>Un evento publicado en Java (Nodo 1) lo consume Go (Nodo 2), y viceversa, sin conexión directa entre ellos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Evidencia: UI web de auditoría</a:t>
            </a:r>
            <a:endParaRPr lang="en-US" sz="2800" dirty="0"/>
          </a:p>
        </p:txBody>
      </p:sp>
      <p:pic>
        <p:nvPicPr>
          <p:cNvPr id="3" name="Image 0" descr="UI web con eventos de ambos nodos del escenario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12064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1887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Consumidor Node.js con binding # recibe todos los eventos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reenvía al navegador en tiempo real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Columna «Nodo origen»: eventos de esc3-nodo1 y esc3-nodo2 en la misma vista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Comparación entre escenarios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0515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3F5F8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B1D"/>
                </a:solidFill>
              </a:rPr>
              <a:t>Centralizado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 Configuración mínima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 Latencia muy baja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 Logs en un solo lugar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B2C2C"/>
                </a:solidFill>
              </a:rPr>
              <a:t>– Cae el nodo → cae todo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B2C2C"/>
                </a:solidFill>
              </a:rPr>
              <a:t>– Limitado a una máquina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3246120" y="10515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3F5F8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96ED"/>
                </a:solidFill>
              </a:rPr>
              <a:t>2 nodos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 Broker aislado, sin competir por recursos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 Si cae Nodo 1, los mensajes esperan en cola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1546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B2C2C"/>
                </a:solidFill>
              </a:rPr>
              <a:t>– Requiere IP, puertos y firewall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B2C2C"/>
                </a:solidFill>
              </a:rPr>
              <a:t>– Un salto de red más</a:t>
            </a:r>
            <a:endParaRPr lang="en-US" sz="1400" dirty="0"/>
          </a:p>
        </p:txBody>
      </p:sp>
      <p:sp>
        <p:nvSpPr>
          <p:cNvPr id="11" name="tarjeta"/>
          <p:cNvSpPr/>
          <p:nvPr/>
        </p:nvSpPr>
        <p:spPr>
          <a:xfrm>
            <a:off x="6035040" y="10515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3F5F8"/>
          </a:solidFill>
          <a:ln w="12700">
            <a:solidFill>
              <a:srgbClr val="3C87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C873A"/>
                </a:solidFill>
              </a:rPr>
              <a:t>3 nodos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 Carga repartida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+ Si cae un nodo de servicios, el otro sigue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1546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B2C2C"/>
                </a:solidFill>
              </a:rPr>
              <a:t>– Más coordinación y logs repartidos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B2C2C"/>
                </a:solidFill>
              </a:rPr>
              <a:t>– Broker = punto único de falla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Retos técnicos</a:t>
            </a:r>
            <a:endParaRPr lang="en-US" sz="2800" dirty="0"/>
          </a:p>
        </p:txBody>
      </p:sp>
      <p:sp>
        <p:nvSpPr>
          <p:cNvPr id="3" name="tarjeta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ero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guest solo es local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37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Usuario admin propio para conexiones remotas</a:t>
            </a:r>
            <a:endParaRPr lang="en-US" sz="1300" dirty="0"/>
          </a:p>
        </p:txBody>
      </p:sp>
      <p:sp>
        <p:nvSpPr>
          <p:cNvPr id="8" name="tarjeta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ero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61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Arranque antes que el broker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37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Reintento de conexión + healthcheck/depends_on</a:t>
            </a:r>
            <a:endParaRPr lang="en-US" sz="1300" dirty="0"/>
          </a:p>
        </p:txBody>
      </p:sp>
      <p:sp>
        <p:nvSpPr>
          <p:cNvPr id="13" name="tarjeta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ero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535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NAT de Docker Desktop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29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Conexiones nombradas servicio@nodo e IP real con Get-NetTCPConnection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ero"/>
          <p:cNvSpPr/>
          <p:nvPr/>
        </p:nvSpPr>
        <p:spPr>
          <a:xfrm>
            <a:off x="4846320" y="2971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9535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Firewall y PCs compartidos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429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Puerto 5672 en la LAN y script arreglar-docker.ps1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El mismo código funcionó en los 3 escenarios: la topología física queda fuera del código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El exchange topic entrega un evento a varios consumidores sin que el productor los conozca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Distribuir aísla recursos y tolera caídas de nodos, a cambio de más configuración de red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El broker es el punto crítico: en producción se usaría un clúster RabbitMQ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nt-Driven RabbitMQ">
  <a:themeElements>
    <a:clrScheme name="Event-Driven RabbitMQ">
      <a:dk1>
        <a:srgbClr val="1F2A37"/>
      </a:dk1>
      <a:lt1>
        <a:srgbClr val="FFFFFF"/>
      </a:lt1>
      <a:dk2>
        <a:srgbClr val="2B3A4B"/>
      </a:dk2>
      <a:lt2>
        <a:srgbClr val="F3F5F8"/>
      </a:lt2>
      <a:accent1>
        <a:srgbClr val="F26B1D"/>
      </a:accent1>
      <a:accent2>
        <a:srgbClr val="2496ED"/>
      </a:accent2>
      <a:accent3>
        <a:srgbClr val="3776AB"/>
      </a:accent3>
      <a:accent4>
        <a:srgbClr val="B07219"/>
      </a:accent4>
      <a:accent5>
        <a:srgbClr val="3C873A"/>
      </a:accent5>
      <a:accent6>
        <a:srgbClr val="00ADD8"/>
      </a:accent6>
      <a:hlink>
        <a:srgbClr val="2496ED"/>
      </a:hlink>
      <a:folHlink>
        <a:srgbClr val="6B7280"/>
      </a:folHlink>
    </a:clrScheme>
    <a:fontScheme name="Event-Driven RabbitMQ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Event-Driven multilenguaje con RabbitMQ y Docker</dc:title>
  <dc:subject>PptxGenJS Presentation</dc:subject>
  <dc:creator>PptxGenJS</dc:creator>
  <cp:lastModifiedBy>PptxGenJS</cp:lastModifiedBy>
  <cp:revision>1</cp:revision>
  <dcterms:created xsi:type="dcterms:W3CDTF">2026-10-28T20:22:50Z</dcterms:created>
  <dcterms:modified xsi:type="dcterms:W3CDTF">2026-10-28T20:22:50Z</dcterms:modified>
</cp:coreProperties>
</file>